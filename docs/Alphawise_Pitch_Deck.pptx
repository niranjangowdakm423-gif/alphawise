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1 - 0:00 to 0:20):</a:t>
            </a:r>
          </a:p>
          <a:p>
            <a:r>
              <a:t>'Good day, judges and investors. I am proud to present Alphawise—an institutional-grade portfolio optimization and risk intelligence platform that bridges quantitative financial rigor with real-time AI diagnostics. You can follow along live at alphawise-frontend.vercel.app.'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2 - 0:20 to 0:50):</a:t>
            </a:r>
          </a:p>
          <a:p>
            <a:r>
              <a:t>'Here is the critical blindspot in financial markets today: investors think holding 10 stock symbols protects them. But if those stocks all chase the same AI momentum, they have zero true protection. Meanwhile, textbook Markowitz optimization blows up due to estimation error, and institutional tools like Bloomberg cost $25,000 a year. Alphawise solves all three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3 - 0:50 to 1:20):</a:t>
            </a:r>
          </a:p>
          <a:p>
            <a:r>
              <a:t>'Alphawise rests on three pillars: First, robust convex optimization with Ledoit-Wolf shrinkage to find the true tangency portfolio. Second, spectral factor decomposition that reveals your Effective Number of Bets. And third, an AI CIO Hub that translates complex math into executive memos and viral educational roasts.'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4 - 1:20 to 1:45):</a:t>
            </a:r>
          </a:p>
          <a:p>
            <a:r>
              <a:t>'For the technical judges: our engine uses Charnes-Cooper hyperbolic transformations to solve the maximum Sharpe problem in convex space. We perform full spectral decomposition on the correlation matrix to calculate Shannon entropy. This is institutional mathematical rigor running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5 - 1:45 to 2:10):</a:t>
            </a:r>
          </a:p>
          <a:p>
            <a:r>
              <a:t>'The platform gives users 6 interactive visual panes: from the Efficient Frontier curve and historical crisis stress tests that simulate real market crashes, to an interactive What-If sandbox and 63-day rolling volatility charts that prove risk reduction over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6 - 2:10 to 2:30):</a:t>
            </a:r>
          </a:p>
          <a:p>
            <a:r>
              <a:t>'Alphawise doesn't just display charts—it drives execution. Our Rebalance Ticket generates broker-ready trade deltas with one-click copy. Our state-aware AI Copilot answers any risk question in real time, and our Tear Sheet export produces institutional 1-page client reports on demand.'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7 - 2:30 to 2:45):</a:t>
            </a:r>
          </a:p>
          <a:p>
            <a:r>
              <a:t>'The market opportunity is massive: over 300,000 wealth advisors and 100 million investors need this intelligence. With an advisor SaaS tier at $49/month and an enterprise API, we offer a 100x cost advantage over legacy terminals while delivering far deeper mathematical rigor than retail brokerage apps.'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8 - 2:45 to 3:00):</a:t>
            </a:r>
          </a:p>
          <a:p>
            <a:r>
              <a:t>'In conclusion: Alphawise replaces guesswork with proven quantitative science and AI intelligence. We are transforming how the world optimizes, manages, and protects wealth.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3200400"/>
          </a:xfrm>
          <a:prstGeom prst="rect">
            <a:avLst/>
          </a:prstGeom>
          <a:noFill/>
        </p:spPr>
        <p:txBody>
          <a:bodyPr wrap="square">
            <a:spAutoFit/>
          </a:bodyPr>
          <a:lstStyle/>
          <a:p>
            <a:pPr>
              <a:spcAft>
                <a:spcPts val="1200"/>
              </a:spcAft>
              <a:defRPr sz="1200" b="1">
                <a:solidFill>
                  <a:srgbClr val="10B981"/>
                </a:solidFill>
              </a:defRPr>
            </a:pPr>
            <a:r>
              <a:t>⚡ INSTITUTIONAL QUANTITATIVE ENGINE &amp; AI PORTFOLIO INTELLIGENCE</a:t>
            </a:r>
          </a:p>
          <a:p>
            <a:pPr>
              <a:spcAft>
                <a:spcPts val="1000"/>
              </a:spcAft>
              <a:defRPr sz="5600" b="1">
                <a:solidFill>
                  <a:srgbClr val="FFFFFF"/>
                </a:solidFill>
              </a:defRPr>
            </a:pPr>
            <a:r>
              <a:t>ALPHAWISE</a:t>
            </a:r>
          </a:p>
          <a:p>
            <a:pPr>
              <a:spcAft>
                <a:spcPts val="2800"/>
              </a:spcAft>
              <a:defRPr sz="2000">
                <a:solidFill>
                  <a:srgbClr val="94A3B8"/>
                </a:solidFill>
              </a:defRPr>
            </a:pPr>
            <a:r>
              <a:t>Bridging Modern Portfolio Theory, Spectral Factor Decomposition, and Real-Time AI Diagnostics.</a:t>
            </a:r>
          </a:p>
          <a:p>
            <a:pPr>
              <a:defRPr sz="1300" b="1">
                <a:solidFill>
                  <a:srgbClr val="0EA5E9"/>
                </a:solidFill>
              </a:defRPr>
            </a:pPr>
            <a:r>
              <a:t>🌐 Live Production Platform: https://alphawise-frontend.vercel.app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ACT 1 • THE PROBLEM</a:t>
            </a:r>
          </a:p>
        </p:txBody>
      </p:sp>
      <p:sp>
        <p:nvSpPr>
          <p:cNvPr id="4" name="TextBox 3"/>
          <p:cNvSpPr txBox="1"/>
          <p:nvPr/>
        </p:nvSpPr>
        <p:spPr>
          <a:xfrm>
            <a:off x="731520" y="594360"/>
            <a:ext cx="10698480" cy="640080"/>
          </a:xfrm>
          <a:prstGeom prst="rect">
            <a:avLst/>
          </a:prstGeom>
          <a:noFill/>
        </p:spPr>
        <p:txBody>
          <a:bodyPr wrap="square">
            <a:spAutoFit/>
          </a:bodyPr>
          <a:lstStyle/>
          <a:p>
            <a:pPr>
              <a:defRPr sz="2400" b="1">
                <a:solidFill>
                  <a:srgbClr val="F1F5F9"/>
                </a:solidFill>
              </a:defRPr>
            </a:pPr>
            <a:r>
              <a:t>The Market Problem: The Illusion of Diversification</a:t>
            </a:r>
          </a:p>
        </p:txBody>
      </p:sp>
      <p:sp>
        <p:nvSpPr>
          <p:cNvPr id="5" name="Rounded Rectangle 4"/>
          <p:cNvSpPr/>
          <p:nvPr/>
        </p:nvSpPr>
        <p:spPr>
          <a:xfrm>
            <a:off x="7315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F43F5E"/>
                </a:solidFill>
              </a:defRPr>
            </a:pPr>
            <a:r>
              <a:t>1. Fake Diversification</a:t>
            </a:r>
          </a:p>
          <a:p>
            <a:pPr>
              <a:spcAft>
                <a:spcPts val="800"/>
              </a:spcAft>
              <a:defRPr sz="1050">
                <a:solidFill>
                  <a:srgbClr val="94A3B8"/>
                </a:solidFill>
              </a:defRPr>
            </a:pPr>
            <a:r>
              <a:t>The Nominal Ticker Fallacy</a:t>
            </a:r>
          </a:p>
          <a:p>
            <a:pPr>
              <a:spcAft>
                <a:spcPts val="500"/>
              </a:spcAft>
              <a:defRPr sz="1100">
                <a:solidFill>
                  <a:srgbClr val="F1F5F9"/>
                </a:solidFill>
              </a:defRPr>
            </a:pPr>
            <a:r>
              <a:t>• Over 70% of retail investors and wealth advisors believe owning 10 stocks means holding 10 diversified bets.</a:t>
            </a:r>
          </a:p>
          <a:p>
            <a:pPr>
              <a:spcAft>
                <a:spcPts val="500"/>
              </a:spcAft>
              <a:defRPr sz="1100">
                <a:solidFill>
                  <a:srgbClr val="F1F5F9"/>
                </a:solidFill>
              </a:defRPr>
            </a:pPr>
            <a:r>
              <a:t>• If 7 of those stocks are mega-cap tech &amp; semiconductors, they actually hold 1 massive collinear factor bet.</a:t>
            </a:r>
          </a:p>
          <a:p>
            <a:pPr>
              <a:spcAft>
                <a:spcPts val="500"/>
              </a:spcAft>
              <a:defRPr sz="1100">
                <a:solidFill>
                  <a:srgbClr val="F1F5F9"/>
                </a:solidFill>
              </a:defRPr>
            </a:pPr>
            <a:r>
              <a:t>• When market regime shifts occur, correlations spike toward 1.0, triggering devastating 30%+ portfolio drawdowns.</a:t>
            </a:r>
          </a:p>
        </p:txBody>
      </p:sp>
      <p:sp>
        <p:nvSpPr>
          <p:cNvPr id="6" name="Rounded Rectangle 5"/>
          <p:cNvSpPr/>
          <p:nvPr/>
        </p:nvSpPr>
        <p:spPr>
          <a:xfrm>
            <a:off x="43891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F59E0B"/>
                </a:solidFill>
              </a:defRPr>
            </a:pPr>
            <a:r>
              <a:t>2. The 'Error Maximizer'</a:t>
            </a:r>
          </a:p>
          <a:p>
            <a:pPr>
              <a:spcAft>
                <a:spcPts val="800"/>
              </a:spcAft>
              <a:defRPr sz="1050">
                <a:solidFill>
                  <a:srgbClr val="94A3B8"/>
                </a:solidFill>
              </a:defRPr>
            </a:pPr>
            <a:r>
              <a:t>Traditional Markowitz Limitations</a:t>
            </a:r>
          </a:p>
          <a:p>
            <a:pPr>
              <a:spcAft>
                <a:spcPts val="500"/>
              </a:spcAft>
              <a:defRPr sz="1100">
                <a:solidFill>
                  <a:srgbClr val="F1F5F9"/>
                </a:solidFill>
              </a:defRPr>
            </a:pPr>
            <a:r>
              <a:t>• Raw sample Modern Portfolio Theory is mathematically known as an 'error maximizer'.</a:t>
            </a:r>
          </a:p>
          <a:p>
            <a:pPr>
              <a:spcAft>
                <a:spcPts val="500"/>
              </a:spcAft>
              <a:defRPr sz="1100">
                <a:solidFill>
                  <a:srgbClr val="F1F5F9"/>
                </a:solidFill>
              </a:defRPr>
            </a:pPr>
            <a:r>
              <a:t>• Unconstrained sample covariance matrices over-allocate capital to noisy estimation outliers.</a:t>
            </a:r>
          </a:p>
          <a:p>
            <a:pPr>
              <a:spcAft>
                <a:spcPts val="500"/>
              </a:spcAft>
              <a:defRPr sz="1100">
                <a:solidFill>
                  <a:srgbClr val="F1F5F9"/>
                </a:solidFill>
              </a:defRPr>
            </a:pPr>
            <a:r>
              <a:t>• Produces extreme, non-investable corner weights (e.g., 90% in one volatile stock) without shrinkage and box constraints.</a:t>
            </a:r>
          </a:p>
        </p:txBody>
      </p:sp>
      <p:sp>
        <p:nvSpPr>
          <p:cNvPr id="7" name="Rounded Rectangle 6"/>
          <p:cNvSpPr/>
          <p:nvPr/>
        </p:nvSpPr>
        <p:spPr>
          <a:xfrm>
            <a:off x="80467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0EA5E9"/>
                </a:solidFill>
              </a:defRPr>
            </a:pPr>
            <a:r>
              <a:t>3. The Institutional Gap</a:t>
            </a:r>
          </a:p>
          <a:p>
            <a:pPr>
              <a:spcAft>
                <a:spcPts val="800"/>
              </a:spcAft>
              <a:defRPr sz="1050">
                <a:solidFill>
                  <a:srgbClr val="94A3B8"/>
                </a:solidFill>
              </a:defRPr>
            </a:pPr>
            <a:r>
              <a:t>Expensive &amp; Complex Tools</a:t>
            </a:r>
          </a:p>
          <a:p>
            <a:pPr>
              <a:spcAft>
                <a:spcPts val="500"/>
              </a:spcAft>
              <a:defRPr sz="1100">
                <a:solidFill>
                  <a:srgbClr val="F1F5F9"/>
                </a:solidFill>
              </a:defRPr>
            </a:pPr>
            <a:r>
              <a:t>• Hedge funds and elite asset managers pay $25,000+ per year for Bloomberg Terminal or BlackRock Aladdin.</a:t>
            </a:r>
          </a:p>
          <a:p>
            <a:pPr>
              <a:spcAft>
                <a:spcPts val="500"/>
              </a:spcAft>
              <a:defRPr sz="1100">
                <a:solidFill>
                  <a:srgbClr val="F1F5F9"/>
                </a:solidFill>
              </a:defRPr>
            </a:pPr>
            <a:r>
              <a:t>• Everyday advisors and serious retail investors are left with simplistic broker charts with zero risk decomposition.</a:t>
            </a:r>
          </a:p>
          <a:p>
            <a:pPr>
              <a:spcAft>
                <a:spcPts val="500"/>
              </a:spcAft>
              <a:defRPr sz="1100">
                <a:solidFill>
                  <a:srgbClr val="F1F5F9"/>
                </a:solidFill>
              </a:defRPr>
            </a:pPr>
            <a:r>
              <a:t>• A massive underserved market for institutional-grade, accessible quantitative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ACT 2 • THE SOLUTION</a:t>
            </a:r>
          </a:p>
        </p:txBody>
      </p:sp>
      <p:sp>
        <p:nvSpPr>
          <p:cNvPr id="4" name="TextBox 3"/>
          <p:cNvSpPr txBox="1"/>
          <p:nvPr/>
        </p:nvSpPr>
        <p:spPr>
          <a:xfrm>
            <a:off x="731520" y="594360"/>
            <a:ext cx="10698480" cy="640080"/>
          </a:xfrm>
          <a:prstGeom prst="rect">
            <a:avLst/>
          </a:prstGeom>
          <a:noFill/>
        </p:spPr>
        <p:txBody>
          <a:bodyPr wrap="square">
            <a:spAutoFit/>
          </a:bodyPr>
          <a:lstStyle/>
          <a:p>
            <a:pPr>
              <a:defRPr sz="2400" b="1">
                <a:solidFill>
                  <a:srgbClr val="F1F5F9"/>
                </a:solidFill>
              </a:defRPr>
            </a:pPr>
            <a:r>
              <a:t>The Alphawise Solution: 3 Pillars of Intelligence</a:t>
            </a:r>
          </a:p>
        </p:txBody>
      </p:sp>
      <p:sp>
        <p:nvSpPr>
          <p:cNvPr id="5" name="Rounded Rectangle 4"/>
          <p:cNvSpPr/>
          <p:nvPr/>
        </p:nvSpPr>
        <p:spPr>
          <a:xfrm>
            <a:off x="7315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10B981"/>
                </a:solidFill>
              </a:defRPr>
            </a:pPr>
            <a:r>
              <a:t>Pillar 1: Robust Quant Solvers</a:t>
            </a:r>
          </a:p>
          <a:p>
            <a:pPr>
              <a:spcAft>
                <a:spcPts val="800"/>
              </a:spcAft>
              <a:defRPr sz="1050">
                <a:solidFill>
                  <a:srgbClr val="94A3B8"/>
                </a:solidFill>
              </a:defRPr>
            </a:pPr>
            <a:r>
              <a:t>Convex Quadratic Optimization</a:t>
            </a:r>
          </a:p>
          <a:p>
            <a:pPr>
              <a:spcAft>
                <a:spcPts val="500"/>
              </a:spcAft>
              <a:defRPr sz="1100">
                <a:solidFill>
                  <a:srgbClr val="F1F5F9"/>
                </a:solidFill>
              </a:defRPr>
            </a:pPr>
            <a:r>
              <a:t>• Convex QP solvers (SciPy SLSQP &amp; CVXPY) with Charnes-Cooper hyperbolic transformation for Maximum Sharpe.</a:t>
            </a:r>
          </a:p>
          <a:p>
            <a:pPr>
              <a:spcAft>
                <a:spcPts val="500"/>
              </a:spcAft>
              <a:defRPr sz="1100">
                <a:solidFill>
                  <a:srgbClr val="F1F5F9"/>
                </a:solidFill>
              </a:defRPr>
            </a:pPr>
            <a:r>
              <a:t>• Ledoit-Wolf shrinkage covariance estimation to counteract sample noise and ill-conditioned matrices.</a:t>
            </a:r>
          </a:p>
          <a:p>
            <a:pPr>
              <a:spcAft>
                <a:spcPts val="500"/>
              </a:spcAft>
              <a:defRPr sz="1100">
                <a:solidFill>
                  <a:srgbClr val="F1F5F9"/>
                </a:solidFill>
              </a:defRPr>
            </a:pPr>
            <a:r>
              <a:t>• Enforced box constraints (w_i &lt;= w_max) to guarantee investable, balanced institutional allocations.</a:t>
            </a:r>
          </a:p>
        </p:txBody>
      </p:sp>
      <p:sp>
        <p:nvSpPr>
          <p:cNvPr id="6" name="Rounded Rectangle 5"/>
          <p:cNvSpPr/>
          <p:nvPr/>
        </p:nvSpPr>
        <p:spPr>
          <a:xfrm>
            <a:off x="43891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0EA5E9"/>
                </a:solidFill>
              </a:defRPr>
            </a:pPr>
            <a:r>
              <a:t>Pillar 2: Spectral Risk Engine</a:t>
            </a:r>
          </a:p>
          <a:p>
            <a:pPr>
              <a:spcAft>
                <a:spcPts val="800"/>
              </a:spcAft>
              <a:defRPr sz="1050">
                <a:solidFill>
                  <a:srgbClr val="94A3B8"/>
                </a:solidFill>
              </a:defRPr>
            </a:pPr>
            <a:r>
              <a:t>Effective Number of Bets (N_eff)</a:t>
            </a:r>
          </a:p>
          <a:p>
            <a:pPr>
              <a:spcAft>
                <a:spcPts val="500"/>
              </a:spcAft>
              <a:defRPr sz="1100">
                <a:solidFill>
                  <a:srgbClr val="F1F5F9"/>
                </a:solidFill>
              </a:defRPr>
            </a:pPr>
            <a:r>
              <a:t>• Eigenvalue decomposition of the Pearson correlation matrix (C = V Λ V^T).</a:t>
            </a:r>
          </a:p>
          <a:p>
            <a:pPr>
              <a:spcAft>
                <a:spcPts val="500"/>
              </a:spcAft>
              <a:defRPr sz="1100">
                <a:solidFill>
                  <a:srgbClr val="F1F5F9"/>
                </a:solidFill>
              </a:defRPr>
            </a:pPr>
            <a:r>
              <a:t>• Computes exponential Shannon entropy across normalized variance distribution (p_k = λ_k / N).</a:t>
            </a:r>
          </a:p>
          <a:p>
            <a:pPr>
              <a:spcAft>
                <a:spcPts val="500"/>
              </a:spcAft>
              <a:defRPr sz="1100">
                <a:solidFill>
                  <a:srgbClr val="F1F5F9"/>
                </a:solidFill>
              </a:defRPr>
            </a:pPr>
            <a:r>
              <a:t>• Mathematically reveals true orthogonal risk factors vs nominal asset count (e.g. 7 assets = 2.8 true bets).</a:t>
            </a:r>
          </a:p>
        </p:txBody>
      </p:sp>
      <p:sp>
        <p:nvSpPr>
          <p:cNvPr id="7" name="Rounded Rectangle 6"/>
          <p:cNvSpPr/>
          <p:nvPr/>
        </p:nvSpPr>
        <p:spPr>
          <a:xfrm>
            <a:off x="80467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F59E0B"/>
                </a:solidFill>
              </a:defRPr>
            </a:pPr>
            <a:r>
              <a:t>Pillar 3: AI CIO Diagnostics</a:t>
            </a:r>
          </a:p>
          <a:p>
            <a:pPr>
              <a:spcAft>
                <a:spcPts val="800"/>
              </a:spcAft>
              <a:defRPr sz="1050">
                <a:solidFill>
                  <a:srgbClr val="94A3B8"/>
                </a:solidFill>
              </a:defRPr>
            </a:pPr>
            <a:r>
              <a:t>Dual-Persona Llama 3.3 70B</a:t>
            </a:r>
          </a:p>
          <a:p>
            <a:pPr>
              <a:spcAft>
                <a:spcPts val="500"/>
              </a:spcAft>
              <a:defRPr sz="1100">
                <a:solidFill>
                  <a:srgbClr val="F1F5F9"/>
                </a:solidFill>
              </a:defRPr>
            </a:pPr>
            <a:r>
              <a:t>• 100-point Multi-Factor Health Score synthesized across Diversification, Sharpe, Vol Drag, and Tail Risk.</a:t>
            </a:r>
          </a:p>
          <a:p>
            <a:pPr>
              <a:spcAft>
                <a:spcPts val="500"/>
              </a:spcAft>
              <a:defRPr sz="1100">
                <a:solidFill>
                  <a:srgbClr val="F1F5F9"/>
                </a:solidFill>
              </a:defRPr>
            </a:pPr>
            <a:r>
              <a:t>• Dual-Voice commentary: Institutional CIO Fiduciary Memo for committees vs 🌶️ Roast My Portfolio for retail.</a:t>
            </a:r>
          </a:p>
          <a:p>
            <a:pPr>
              <a:spcAft>
                <a:spcPts val="500"/>
              </a:spcAft>
              <a:defRPr sz="1100">
                <a:solidFill>
                  <a:srgbClr val="F1F5F9"/>
                </a:solidFill>
              </a:defRPr>
            </a:pPr>
            <a:r>
              <a:t>• Floating AI Copilot with real-time portfolio covariance context awareness powered by Groq.</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QUANTITATIVE FOUNDATIONS</a:t>
            </a:r>
          </a:p>
        </p:txBody>
      </p:sp>
      <p:sp>
        <p:nvSpPr>
          <p:cNvPr id="4" name="TextBox 3"/>
          <p:cNvSpPr txBox="1"/>
          <p:nvPr/>
        </p:nvSpPr>
        <p:spPr>
          <a:xfrm>
            <a:off x="731520" y="594360"/>
            <a:ext cx="10698480" cy="640080"/>
          </a:xfrm>
          <a:prstGeom prst="rect">
            <a:avLst/>
          </a:prstGeom>
          <a:noFill/>
        </p:spPr>
        <p:txBody>
          <a:bodyPr wrap="square">
            <a:spAutoFit/>
          </a:bodyPr>
          <a:lstStyle/>
          <a:p>
            <a:pPr>
              <a:defRPr sz="2400" b="1">
                <a:solidFill>
                  <a:srgbClr val="F1F5F9"/>
                </a:solidFill>
              </a:defRPr>
            </a:pPr>
            <a:r>
              <a:t>Under the Hood: Institutional Mathematical Rigor</a:t>
            </a:r>
          </a:p>
        </p:txBody>
      </p:sp>
      <p:sp>
        <p:nvSpPr>
          <p:cNvPr id="5" name="Rounded Rectangle 4"/>
          <p:cNvSpPr/>
          <p:nvPr/>
        </p:nvSpPr>
        <p:spPr>
          <a:xfrm>
            <a:off x="731520" y="1463040"/>
            <a:ext cx="51206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10B981"/>
                </a:solidFill>
              </a:defRPr>
            </a:pPr>
            <a:r>
              <a:t>Mean-Variance Tangency Optimization</a:t>
            </a:r>
          </a:p>
          <a:p>
            <a:pPr>
              <a:spcAft>
                <a:spcPts val="800"/>
              </a:spcAft>
              <a:defRPr sz="1050">
                <a:solidFill>
                  <a:srgbClr val="94A3B8"/>
                </a:solidFill>
              </a:defRPr>
            </a:pPr>
            <a:r>
              <a:t>Charnes-Cooper SLSQP Convex Formulation</a:t>
            </a:r>
          </a:p>
          <a:p>
            <a:pPr>
              <a:spcAft>
                <a:spcPts val="500"/>
              </a:spcAft>
              <a:defRPr sz="1100">
                <a:solidFill>
                  <a:srgbClr val="F1F5F9"/>
                </a:solidFill>
              </a:defRPr>
            </a:pPr>
            <a:r>
              <a:t>• Objective: Maximize Tangency Sharpe Ratio: min_w - (w^T μ - R_f) / sqrt(w^T Σ w)</a:t>
            </a:r>
          </a:p>
          <a:p>
            <a:pPr>
              <a:spcAft>
                <a:spcPts val="500"/>
              </a:spcAft>
              <a:defRPr sz="1100">
                <a:solidFill>
                  <a:srgbClr val="F1F5F9"/>
                </a:solidFill>
              </a:defRPr>
            </a:pPr>
            <a:r>
              <a:t>• Subject to Hard Budget Constraint: sum(w_i) = 1.0 (100% allocation)</a:t>
            </a:r>
          </a:p>
          <a:p>
            <a:pPr>
              <a:spcAft>
                <a:spcPts val="500"/>
              </a:spcAft>
              <a:defRPr sz="1100">
                <a:solidFill>
                  <a:srgbClr val="F1F5F9"/>
                </a:solidFill>
              </a:defRPr>
            </a:pPr>
            <a:r>
              <a:t>• Upper-Bound Box Constraints: 0 &lt;= w_i &lt;= w_max (prevents extreme corner solutions)</a:t>
            </a:r>
          </a:p>
          <a:p>
            <a:pPr>
              <a:spcAft>
                <a:spcPts val="500"/>
              </a:spcAft>
              <a:defRPr sz="1100">
                <a:solidFill>
                  <a:srgbClr val="F1F5F9"/>
                </a:solidFill>
              </a:defRPr>
            </a:pPr>
            <a:r>
              <a:t>• Annualized Statistics: μ_i = r̄_i * 252,  σ_i = std(r_i) * sqrt(252)</a:t>
            </a:r>
          </a:p>
          <a:p>
            <a:pPr>
              <a:spcAft>
                <a:spcPts val="500"/>
              </a:spcAft>
              <a:defRPr sz="1100">
                <a:solidFill>
                  <a:srgbClr val="F1F5F9"/>
                </a:solidFill>
              </a:defRPr>
            </a:pPr>
            <a:r>
              <a:t>• Covariance Matrix: Σ = Cov(R) * 252 = D * C * D with Ledoit-Wolf shrinkage</a:t>
            </a:r>
          </a:p>
          <a:p>
            <a:pPr>
              <a:spcAft>
                <a:spcPts val="500"/>
              </a:spcAft>
              <a:defRPr sz="1100">
                <a:solidFill>
                  <a:srgbClr val="F1F5F9"/>
                </a:solidFill>
              </a:defRPr>
            </a:pPr>
            <a:r>
              <a:t>• Efficient Frontier Sweep: Solves minimum variance QP across M return constraints.</a:t>
            </a:r>
          </a:p>
        </p:txBody>
      </p:sp>
      <p:sp>
        <p:nvSpPr>
          <p:cNvPr id="6" name="Rounded Rectangle 5"/>
          <p:cNvSpPr/>
          <p:nvPr/>
        </p:nvSpPr>
        <p:spPr>
          <a:xfrm>
            <a:off x="6217920" y="1463040"/>
            <a:ext cx="51206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0EA5E9"/>
                </a:solidFill>
              </a:defRPr>
            </a:pPr>
            <a:r>
              <a:t>Spectral Factor Diversification &amp; Tail Risk</a:t>
            </a:r>
          </a:p>
          <a:p>
            <a:pPr>
              <a:spcAft>
                <a:spcPts val="800"/>
              </a:spcAft>
              <a:defRPr sz="1050">
                <a:solidFill>
                  <a:srgbClr val="94A3B8"/>
                </a:solidFill>
              </a:defRPr>
            </a:pPr>
            <a:r>
              <a:t>Eigenvalue Shannon Entropy &amp; Cornish-Fisher VaR</a:t>
            </a:r>
          </a:p>
          <a:p>
            <a:pPr>
              <a:spcAft>
                <a:spcPts val="500"/>
              </a:spcAft>
              <a:defRPr sz="1100">
                <a:solidFill>
                  <a:srgbClr val="F1F5F9"/>
                </a:solidFill>
              </a:defRPr>
            </a:pPr>
            <a:r>
              <a:t>• Correlation Decomposition: C = V Λ V^T where Λ = diag(λ_1, ..., λ_N)</a:t>
            </a:r>
          </a:p>
          <a:p>
            <a:pPr>
              <a:spcAft>
                <a:spcPts val="500"/>
              </a:spcAft>
              <a:defRPr sz="1100">
                <a:solidFill>
                  <a:srgbClr val="F1F5F9"/>
                </a:solidFill>
              </a:defRPr>
            </a:pPr>
            <a:r>
              <a:t>• Variance Proportions: p_k = λ_k / sum(λ_j) = λ_k / N</a:t>
            </a:r>
          </a:p>
          <a:p>
            <a:pPr>
              <a:spcAft>
                <a:spcPts val="500"/>
              </a:spcAft>
              <a:defRPr sz="1100">
                <a:solidFill>
                  <a:srgbClr val="F1F5F9"/>
                </a:solidFill>
              </a:defRPr>
            </a:pPr>
            <a:r>
              <a:t>• Effective Number of Bets (Meucci Entropy): N_eff = exp( - sum p_k * ln(p_k) )</a:t>
            </a:r>
          </a:p>
          <a:p>
            <a:pPr>
              <a:spcAft>
                <a:spcPts val="500"/>
              </a:spcAft>
              <a:defRPr sz="1100">
                <a:solidFill>
                  <a:srgbClr val="F1F5F9"/>
                </a:solidFill>
              </a:defRPr>
            </a:pPr>
            <a:r>
              <a:t>• Collinear Assets: λ_1 = N  =&gt;  N_eff = 1.0 (Zero true diversification)</a:t>
            </a:r>
          </a:p>
          <a:p>
            <a:pPr>
              <a:spcAft>
                <a:spcPts val="500"/>
              </a:spcAft>
              <a:defRPr sz="1100">
                <a:solidFill>
                  <a:srgbClr val="F1F5F9"/>
                </a:solidFill>
              </a:defRPr>
            </a:pPr>
            <a:r>
              <a:t>• Orthogonal Assets: λ_k = 1  =&gt;  N_eff = N (Perfect factor balance)</a:t>
            </a:r>
          </a:p>
          <a:p>
            <a:pPr>
              <a:spcAft>
                <a:spcPts val="500"/>
              </a:spcAft>
              <a:defRPr sz="1100">
                <a:solidFill>
                  <a:srgbClr val="F1F5F9"/>
                </a:solidFill>
              </a:defRPr>
            </a:pPr>
            <a:r>
              <a:t>• Tail Risk (Cornish-Fisher VaR 95%): Adjusts standard normal z-score for skewness (S) and excess kurtosis (K).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LIVE PLATFORM WALKTHROUGH</a:t>
            </a:r>
          </a:p>
        </p:txBody>
      </p:sp>
      <p:sp>
        <p:nvSpPr>
          <p:cNvPr id="4" name="TextBox 3"/>
          <p:cNvSpPr txBox="1"/>
          <p:nvPr/>
        </p:nvSpPr>
        <p:spPr>
          <a:xfrm>
            <a:off x="731520" y="594360"/>
            <a:ext cx="10698480" cy="640080"/>
          </a:xfrm>
          <a:prstGeom prst="rect">
            <a:avLst/>
          </a:prstGeom>
          <a:noFill/>
        </p:spPr>
        <p:txBody>
          <a:bodyPr wrap="square">
            <a:spAutoFit/>
          </a:bodyPr>
          <a:lstStyle/>
          <a:p>
            <a:pPr>
              <a:defRPr sz="2400" b="1">
                <a:solidFill>
                  <a:srgbClr val="F1F5F9"/>
                </a:solidFill>
              </a:defRPr>
            </a:pPr>
            <a:r>
              <a:t>Product Capabilities: 6 Interactive Analytical Panes</a:t>
            </a:r>
          </a:p>
        </p:txBody>
      </p:sp>
      <p:sp>
        <p:nvSpPr>
          <p:cNvPr id="5" name="Rounded Rectangle 4"/>
          <p:cNvSpPr/>
          <p:nvPr/>
        </p:nvSpPr>
        <p:spPr>
          <a:xfrm>
            <a:off x="731520" y="1463040"/>
            <a:ext cx="3291840" cy="219456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10B981"/>
                </a:solidFill>
              </a:defRPr>
            </a:pPr>
            <a:r>
              <a:t>1. Efficient Frontier</a:t>
            </a:r>
          </a:p>
          <a:p>
            <a:pPr>
              <a:spcAft>
                <a:spcPts val="800"/>
              </a:spcAft>
              <a:defRPr sz="1050">
                <a:solidFill>
                  <a:srgbClr val="94A3B8"/>
                </a:solidFill>
              </a:defRPr>
            </a:pPr>
            <a:r>
              <a:t>Visual Parametric Hyperbola</a:t>
            </a:r>
          </a:p>
          <a:p>
            <a:pPr>
              <a:spcAft>
                <a:spcPts val="500"/>
              </a:spcAft>
              <a:defRPr sz="1100">
                <a:solidFill>
                  <a:srgbClr val="F1F5F9"/>
                </a:solidFill>
              </a:defRPr>
            </a:pPr>
            <a:r>
              <a:t>• Interactive scatter curve with live coordinates.</a:t>
            </a:r>
          </a:p>
          <a:p>
            <a:pPr>
              <a:spcAft>
                <a:spcPts val="500"/>
              </a:spcAft>
              <a:defRPr sz="1100">
                <a:solidFill>
                  <a:srgbClr val="F1F5F9"/>
                </a:solidFill>
              </a:defRPr>
            </a:pPr>
            <a:r>
              <a:t>• Highlights Max Sharpe Star, Min Vol Triangle, and Current Portfolio baseline.</a:t>
            </a:r>
          </a:p>
        </p:txBody>
      </p:sp>
      <p:sp>
        <p:nvSpPr>
          <p:cNvPr id="6" name="Rounded Rectangle 5"/>
          <p:cNvSpPr/>
          <p:nvPr/>
        </p:nvSpPr>
        <p:spPr>
          <a:xfrm>
            <a:off x="4389120" y="1463040"/>
            <a:ext cx="3291840" cy="219456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F43F5E"/>
                </a:solidFill>
              </a:defRPr>
            </a:pPr>
            <a:r>
              <a:t>2. Macro Crisis Stress-Test</a:t>
            </a:r>
          </a:p>
          <a:p>
            <a:pPr>
              <a:spcAft>
                <a:spcPts val="800"/>
              </a:spcAft>
              <a:defRPr sz="1050">
                <a:solidFill>
                  <a:srgbClr val="94A3B8"/>
                </a:solidFill>
              </a:defRPr>
            </a:pPr>
            <a:r>
              <a:t>Historical Crash Simulator</a:t>
            </a:r>
          </a:p>
          <a:p>
            <a:pPr>
              <a:spcAft>
                <a:spcPts val="500"/>
              </a:spcAft>
              <a:defRPr sz="1100">
                <a:solidFill>
                  <a:srgbClr val="F1F5F9"/>
                </a:solidFill>
              </a:defRPr>
            </a:pPr>
            <a:r>
              <a:t>• Replays 2020 COVID, 2022 Rates, 2008 GFC, 1970s.</a:t>
            </a:r>
          </a:p>
          <a:p>
            <a:pPr>
              <a:spcAft>
                <a:spcPts val="500"/>
              </a:spcAft>
              <a:defRPr sz="1100">
                <a:solidFill>
                  <a:srgbClr val="F1F5F9"/>
                </a:solidFill>
              </a:defRPr>
            </a:pPr>
            <a:r>
              <a:t>• Calculates Downside Cushion (+8.4%) and estimated recovery months.</a:t>
            </a:r>
          </a:p>
        </p:txBody>
      </p:sp>
      <p:sp>
        <p:nvSpPr>
          <p:cNvPr id="7" name="Rounded Rectangle 6"/>
          <p:cNvSpPr/>
          <p:nvPr/>
        </p:nvSpPr>
        <p:spPr>
          <a:xfrm>
            <a:off x="8046720" y="1463040"/>
            <a:ext cx="3291840" cy="219456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0EA5E9"/>
                </a:solidFill>
              </a:defRPr>
            </a:pPr>
            <a:r>
              <a:t>3. What-If Sandbox</a:t>
            </a:r>
          </a:p>
          <a:p>
            <a:pPr>
              <a:spcAft>
                <a:spcPts val="800"/>
              </a:spcAft>
              <a:defRPr sz="1050">
                <a:solidFill>
                  <a:srgbClr val="94A3B8"/>
                </a:solidFill>
              </a:defRPr>
            </a:pPr>
            <a:r>
              <a:t>Pre-Trade Simulation</a:t>
            </a:r>
          </a:p>
          <a:p>
            <a:pPr>
              <a:spcAft>
                <a:spcPts val="500"/>
              </a:spcAft>
              <a:defRPr sz="1100">
                <a:solidFill>
                  <a:srgbClr val="F1F5F9"/>
                </a:solidFill>
              </a:defRPr>
            </a:pPr>
            <a:r>
              <a:t>• Test injecting +Gold, +Bonds, +BTC.</a:t>
            </a:r>
          </a:p>
          <a:p>
            <a:pPr>
              <a:spcAft>
                <a:spcPts val="500"/>
              </a:spcAft>
              <a:defRPr sz="1100">
                <a:solidFill>
                  <a:srgbClr val="F1F5F9"/>
                </a:solidFill>
              </a:defRPr>
            </a:pPr>
            <a:r>
              <a:t>• Live projected Sharpe, volatility delta, and 1-click injection into portfolio.</a:t>
            </a:r>
          </a:p>
        </p:txBody>
      </p:sp>
      <p:sp>
        <p:nvSpPr>
          <p:cNvPr id="8" name="Rounded Rectangle 7"/>
          <p:cNvSpPr/>
          <p:nvPr/>
        </p:nvSpPr>
        <p:spPr>
          <a:xfrm>
            <a:off x="731520" y="3840480"/>
            <a:ext cx="3291840" cy="219456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F59E0B"/>
                </a:solidFill>
              </a:defRPr>
            </a:pPr>
            <a:r>
              <a:t>4. Correlation Heatmap</a:t>
            </a:r>
          </a:p>
          <a:p>
            <a:pPr>
              <a:spcAft>
                <a:spcPts val="800"/>
              </a:spcAft>
              <a:defRPr sz="1050">
                <a:solidFill>
                  <a:srgbClr val="94A3B8"/>
                </a:solidFill>
              </a:defRPr>
            </a:pPr>
            <a:r>
              <a:t>Pearson Matrix Grid</a:t>
            </a:r>
          </a:p>
          <a:p>
            <a:pPr>
              <a:spcAft>
                <a:spcPts val="500"/>
              </a:spcAft>
              <a:defRPr sz="1100">
                <a:solidFill>
                  <a:srgbClr val="F1F5F9"/>
                </a:solidFill>
              </a:defRPr>
            </a:pPr>
            <a:r>
              <a:t>• Color-coded matrix with green identity diagonal.</a:t>
            </a:r>
          </a:p>
          <a:p>
            <a:pPr>
              <a:spcAft>
                <a:spcPts val="500"/>
              </a:spcAft>
              <a:defRPr sz="1100">
                <a:solidFill>
                  <a:srgbClr val="F1F5F9"/>
                </a:solidFill>
              </a:defRPr>
            </a:pPr>
            <a:r>
              <a:t>• Visualizes collinear risk clusters (coral) and negative correlation shelters (emerald).</a:t>
            </a:r>
          </a:p>
        </p:txBody>
      </p:sp>
      <p:sp>
        <p:nvSpPr>
          <p:cNvPr id="9" name="Rounded Rectangle 8"/>
          <p:cNvSpPr/>
          <p:nvPr/>
        </p:nvSpPr>
        <p:spPr>
          <a:xfrm>
            <a:off x="4389120" y="3840480"/>
            <a:ext cx="3291840" cy="219456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0EA5E9"/>
                </a:solidFill>
              </a:defRPr>
            </a:pPr>
            <a:r>
              <a:t>5. Asset Volatilities</a:t>
            </a:r>
          </a:p>
          <a:p>
            <a:pPr>
              <a:spcAft>
                <a:spcPts val="800"/>
              </a:spcAft>
              <a:defRPr sz="1050">
                <a:solidFill>
                  <a:srgbClr val="94A3B8"/>
                </a:solidFill>
              </a:defRPr>
            </a:pPr>
            <a:r>
              <a:t>Bar Chart Variance Breakdown</a:t>
            </a:r>
          </a:p>
          <a:p>
            <a:pPr>
              <a:spcAft>
                <a:spcPts val="500"/>
              </a:spcAft>
              <a:defRPr sz="1100">
                <a:solidFill>
                  <a:srgbClr val="F1F5F9"/>
                </a:solidFill>
              </a:defRPr>
            </a:pPr>
            <a:r>
              <a:t>• Compares standalone asset volatilities against total portfolio volatility.</a:t>
            </a:r>
          </a:p>
          <a:p>
            <a:pPr>
              <a:spcAft>
                <a:spcPts val="500"/>
              </a:spcAft>
              <a:defRPr sz="1100">
                <a:solidFill>
                  <a:srgbClr val="F1F5F9"/>
                </a:solidFill>
              </a:defRPr>
            </a:pPr>
            <a:r>
              <a:t>• Visually highlights high-variance drags.</a:t>
            </a:r>
          </a:p>
        </p:txBody>
      </p:sp>
      <p:sp>
        <p:nvSpPr>
          <p:cNvPr id="10" name="Rounded Rectangle 9"/>
          <p:cNvSpPr/>
          <p:nvPr/>
        </p:nvSpPr>
        <p:spPr>
          <a:xfrm>
            <a:off x="8046720" y="3840480"/>
            <a:ext cx="3291840" cy="219456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10B981"/>
                </a:solidFill>
              </a:defRPr>
            </a:pPr>
            <a:r>
              <a:t>6. 63-Day Rolling Vol</a:t>
            </a:r>
          </a:p>
          <a:p>
            <a:pPr>
              <a:spcAft>
                <a:spcPts val="800"/>
              </a:spcAft>
              <a:defRPr sz="1050">
                <a:solidFill>
                  <a:srgbClr val="94A3B8"/>
                </a:solidFill>
              </a:defRPr>
            </a:pPr>
            <a:r>
              <a:t>Dynamic Risk Time-Series</a:t>
            </a:r>
          </a:p>
          <a:p>
            <a:pPr>
              <a:spcAft>
                <a:spcPts val="500"/>
              </a:spcAft>
              <a:defRPr sz="1100">
                <a:solidFill>
                  <a:srgbClr val="F1F5F9"/>
                </a:solidFill>
              </a:defRPr>
            </a:pPr>
            <a:r>
              <a:t>• Tracks historical 63-day realized volatility.</a:t>
            </a:r>
          </a:p>
          <a:p>
            <a:pPr>
              <a:spcAft>
                <a:spcPts val="500"/>
              </a:spcAft>
              <a:defRPr sz="1100">
                <a:solidFill>
                  <a:srgbClr val="F1F5F9"/>
                </a:solidFill>
              </a:defRPr>
            </a:pPr>
            <a:r>
              <a:t>• Proves optimized tangency portfolio consistently dampens volatility spikes.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EXECUTION &amp; INTELLIGENCE</a:t>
            </a:r>
          </a:p>
        </p:txBody>
      </p:sp>
      <p:sp>
        <p:nvSpPr>
          <p:cNvPr id="4" name="TextBox 3"/>
          <p:cNvSpPr txBox="1"/>
          <p:nvPr/>
        </p:nvSpPr>
        <p:spPr>
          <a:xfrm>
            <a:off x="731520" y="594360"/>
            <a:ext cx="10698480" cy="640080"/>
          </a:xfrm>
          <a:prstGeom prst="rect">
            <a:avLst/>
          </a:prstGeom>
          <a:noFill/>
        </p:spPr>
        <p:txBody>
          <a:bodyPr wrap="square">
            <a:spAutoFit/>
          </a:bodyPr>
          <a:lstStyle/>
          <a:p>
            <a:pPr>
              <a:defRPr sz="2400" b="1">
                <a:solidFill>
                  <a:srgbClr val="F1F5F9"/>
                </a:solidFill>
              </a:defRPr>
            </a:pPr>
            <a:r>
              <a:t>Actionability: Rebalancing Tickets, Copilot &amp; Tear Sheet</a:t>
            </a:r>
          </a:p>
        </p:txBody>
      </p:sp>
      <p:sp>
        <p:nvSpPr>
          <p:cNvPr id="5" name="Rounded Rectangle 4"/>
          <p:cNvSpPr/>
          <p:nvPr/>
        </p:nvSpPr>
        <p:spPr>
          <a:xfrm>
            <a:off x="7315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10B981"/>
                </a:solidFill>
              </a:defRPr>
            </a:pPr>
            <a:r>
              <a:t>Broker Rebalance Ticket</a:t>
            </a:r>
          </a:p>
          <a:p>
            <a:pPr>
              <a:spcAft>
                <a:spcPts val="800"/>
              </a:spcAft>
              <a:defRPr sz="1050">
                <a:solidFill>
                  <a:srgbClr val="94A3B8"/>
                </a:solidFill>
              </a:defRPr>
            </a:pPr>
            <a:r>
              <a:t>From Math to Order Execution</a:t>
            </a:r>
          </a:p>
          <a:p>
            <a:pPr>
              <a:spcAft>
                <a:spcPts val="500"/>
              </a:spcAft>
              <a:defRPr sz="1100">
                <a:solidFill>
                  <a:srgbClr val="F1F5F9"/>
                </a:solidFill>
              </a:defRPr>
            </a:pPr>
            <a:r>
              <a:t>• Converts mathematical tangency weights into actionable trading instructions.</a:t>
            </a:r>
          </a:p>
          <a:p>
            <a:pPr>
              <a:spcAft>
                <a:spcPts val="500"/>
              </a:spcAft>
              <a:defRPr sz="1100">
                <a:solidFill>
                  <a:srgbClr val="F1F5F9"/>
                </a:solidFill>
              </a:defRPr>
            </a:pPr>
            <a:r>
              <a:t>• Calculates exact weight deltas (Δw) with BUY, SELL, or TRIM directives.</a:t>
            </a:r>
          </a:p>
          <a:p>
            <a:pPr>
              <a:spcAft>
                <a:spcPts val="500"/>
              </a:spcAft>
              <a:defRPr sz="1100">
                <a:solidFill>
                  <a:srgbClr val="F1F5F9"/>
                </a:solidFill>
              </a:defRPr>
            </a:pPr>
            <a:r>
              <a:t>• 📋 'Copy Trade Ticket': Copies formatted broker orders to clipboard.</a:t>
            </a:r>
          </a:p>
          <a:p>
            <a:pPr>
              <a:spcAft>
                <a:spcPts val="500"/>
              </a:spcAft>
              <a:defRPr sz="1100">
                <a:solidFill>
                  <a:srgbClr val="F1F5F9"/>
                </a:solidFill>
              </a:defRPr>
            </a:pPr>
            <a:r>
              <a:t>• ⚡ 'Apply Optimized Weights': Overwrites universe parameters with 1 click.</a:t>
            </a:r>
          </a:p>
        </p:txBody>
      </p:sp>
      <p:sp>
        <p:nvSpPr>
          <p:cNvPr id="6" name="Rounded Rectangle 5"/>
          <p:cNvSpPr/>
          <p:nvPr/>
        </p:nvSpPr>
        <p:spPr>
          <a:xfrm>
            <a:off x="43891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0EA5E9"/>
                </a:solidFill>
              </a:defRPr>
            </a:pPr>
            <a:r>
              <a:t>Floating AI Copilot</a:t>
            </a:r>
          </a:p>
          <a:p>
            <a:pPr>
              <a:spcAft>
                <a:spcPts val="800"/>
              </a:spcAft>
              <a:defRPr sz="1050">
                <a:solidFill>
                  <a:srgbClr val="94A3B8"/>
                </a:solidFill>
              </a:defRPr>
            </a:pPr>
            <a:r>
              <a:t>State-Aware Financial Intelligence</a:t>
            </a:r>
          </a:p>
          <a:p>
            <a:pPr>
              <a:spcAft>
                <a:spcPts val="500"/>
              </a:spcAft>
              <a:defRPr sz="1100">
                <a:solidFill>
                  <a:srgbClr val="F1F5F9"/>
                </a:solidFill>
              </a:defRPr>
            </a:pPr>
            <a:r>
              <a:t>• Powered by Groq-accelerated Llama 3.3 70B.</a:t>
            </a:r>
          </a:p>
          <a:p>
            <a:pPr>
              <a:spcAft>
                <a:spcPts val="500"/>
              </a:spcAft>
              <a:defRPr sz="1100">
                <a:solidFill>
                  <a:srgbClr val="F1F5F9"/>
                </a:solidFill>
              </a:defRPr>
            </a:pPr>
            <a:r>
              <a:t>• Maintains continuous real-time awareness of active portfolio holdings and covariance.</a:t>
            </a:r>
          </a:p>
          <a:p>
            <a:pPr>
              <a:spcAft>
                <a:spcPts val="500"/>
              </a:spcAft>
              <a:defRPr sz="1100">
                <a:solidFill>
                  <a:srgbClr val="F1F5F9"/>
                </a:solidFill>
              </a:defRPr>
            </a:pPr>
            <a:r>
              <a:t>• Instant suggestion chips: 'Why buy/sell these?', 'Biggest risk', 'Explain Neff'.</a:t>
            </a:r>
          </a:p>
          <a:p>
            <a:pPr>
              <a:spcAft>
                <a:spcPts val="500"/>
              </a:spcAft>
              <a:defRPr sz="1100">
                <a:solidFill>
                  <a:srgbClr val="F1F5F9"/>
                </a:solidFill>
              </a:defRPr>
            </a:pPr>
            <a:r>
              <a:t>• Zero hallucination: Injects deterministic Python metrics into structured prompts.</a:t>
            </a:r>
          </a:p>
        </p:txBody>
      </p:sp>
      <p:sp>
        <p:nvSpPr>
          <p:cNvPr id="7" name="Rounded Rectangle 6"/>
          <p:cNvSpPr/>
          <p:nvPr/>
        </p:nvSpPr>
        <p:spPr>
          <a:xfrm>
            <a:off x="80467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F59E0B"/>
                </a:solidFill>
              </a:defRPr>
            </a:pPr>
            <a:r>
              <a:t>BlackRock Tear Sheet</a:t>
            </a:r>
          </a:p>
          <a:p>
            <a:pPr>
              <a:spcAft>
                <a:spcPts val="800"/>
              </a:spcAft>
              <a:defRPr sz="1050">
                <a:solidFill>
                  <a:srgbClr val="94A3B8"/>
                </a:solidFill>
              </a:defRPr>
            </a:pPr>
            <a:r>
              <a:t>Institutional Client Export</a:t>
            </a:r>
          </a:p>
          <a:p>
            <a:pPr>
              <a:spcAft>
                <a:spcPts val="500"/>
              </a:spcAft>
              <a:defRPr sz="1100">
                <a:solidFill>
                  <a:srgbClr val="F1F5F9"/>
                </a:solidFill>
              </a:defRPr>
            </a:pPr>
            <a:r>
              <a:t>• 1-Click 'Export Tear Sheet' generates institutional 1-page PDF/print layout.</a:t>
            </a:r>
          </a:p>
          <a:p>
            <a:pPr>
              <a:spcAft>
                <a:spcPts val="500"/>
              </a:spcAft>
              <a:defRPr sz="1100">
                <a:solidFill>
                  <a:srgbClr val="F1F5F9"/>
                </a:solidFill>
              </a:defRPr>
            </a:pPr>
            <a:r>
              <a:t>• Compiles executive metrics, optimal asset allocation tables, and risk disclosures.</a:t>
            </a:r>
          </a:p>
          <a:p>
            <a:pPr>
              <a:spcAft>
                <a:spcPts val="500"/>
              </a:spcAft>
              <a:defRPr sz="1100">
                <a:solidFill>
                  <a:srgbClr val="F1F5F9"/>
                </a:solidFill>
              </a:defRPr>
            </a:pPr>
            <a:r>
              <a:t>• Ready for investment committees, client meetings, or personal record-keeping.</a:t>
            </a:r>
          </a:p>
          <a:p>
            <a:pPr>
              <a:spcAft>
                <a:spcPts val="500"/>
              </a:spcAft>
              <a:defRPr sz="1100">
                <a:solidFill>
                  <a:srgbClr val="F1F5F9"/>
                </a:solidFill>
              </a:defRPr>
            </a:pPr>
            <a:r>
              <a:t>• Built-in Dark/Daylight theme toggle for versatile presentation.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ACT 4 • THE MARKET</a:t>
            </a:r>
          </a:p>
        </p:txBody>
      </p:sp>
      <p:sp>
        <p:nvSpPr>
          <p:cNvPr id="4" name="TextBox 3"/>
          <p:cNvSpPr txBox="1"/>
          <p:nvPr/>
        </p:nvSpPr>
        <p:spPr>
          <a:xfrm>
            <a:off x="731520" y="594360"/>
            <a:ext cx="10698480" cy="640080"/>
          </a:xfrm>
          <a:prstGeom prst="rect">
            <a:avLst/>
          </a:prstGeom>
          <a:noFill/>
        </p:spPr>
        <p:txBody>
          <a:bodyPr wrap="square">
            <a:spAutoFit/>
          </a:bodyPr>
          <a:lstStyle/>
          <a:p>
            <a:pPr>
              <a:defRPr sz="2400" b="1">
                <a:solidFill>
                  <a:srgbClr val="F1F5F9"/>
                </a:solidFill>
              </a:defRPr>
            </a:pPr>
            <a:r>
              <a:t>Business Model &amp; Massive Market Opportunity</a:t>
            </a:r>
          </a:p>
        </p:txBody>
      </p:sp>
      <p:sp>
        <p:nvSpPr>
          <p:cNvPr id="5" name="Rounded Rectangle 4"/>
          <p:cNvSpPr/>
          <p:nvPr/>
        </p:nvSpPr>
        <p:spPr>
          <a:xfrm>
            <a:off x="7315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0EA5E9"/>
                </a:solidFill>
              </a:defRPr>
            </a:pPr>
            <a:r>
              <a:t>Total Addressable Market</a:t>
            </a:r>
          </a:p>
          <a:p>
            <a:pPr>
              <a:spcAft>
                <a:spcPts val="800"/>
              </a:spcAft>
              <a:defRPr sz="1050">
                <a:solidFill>
                  <a:srgbClr val="94A3B8"/>
                </a:solidFill>
              </a:defRPr>
            </a:pPr>
            <a:r>
              <a:t>$30T Wealth Management Wave</a:t>
            </a:r>
          </a:p>
          <a:p>
            <a:pPr>
              <a:spcAft>
                <a:spcPts val="500"/>
              </a:spcAft>
              <a:defRPr sz="1100">
                <a:solidFill>
                  <a:srgbClr val="F1F5F9"/>
                </a:solidFill>
              </a:defRPr>
            </a:pPr>
            <a:r>
              <a:t>• 300,000+ Registered Investment Advisors (RIAs) managing over $120 Trillion in assets.</a:t>
            </a:r>
          </a:p>
          <a:p>
            <a:pPr>
              <a:spcAft>
                <a:spcPts val="500"/>
              </a:spcAft>
              <a:defRPr sz="1100">
                <a:solidFill>
                  <a:srgbClr val="F1F5F9"/>
                </a:solidFill>
              </a:defRPr>
            </a:pPr>
            <a:r>
              <a:t>• 100M+ active retail and self-directed investors seeking institutional-grade tools.</a:t>
            </a:r>
          </a:p>
          <a:p>
            <a:pPr>
              <a:spcAft>
                <a:spcPts val="500"/>
              </a:spcAft>
              <a:defRPr sz="1100">
                <a:solidFill>
                  <a:srgbClr val="F1F5F9"/>
                </a:solidFill>
              </a:defRPr>
            </a:pPr>
            <a:r>
              <a:t>• Growing family offices and boutique prop funds priced out of $25,000/yr legacy terminals.</a:t>
            </a:r>
          </a:p>
        </p:txBody>
      </p:sp>
      <p:sp>
        <p:nvSpPr>
          <p:cNvPr id="6" name="Rounded Rectangle 5"/>
          <p:cNvSpPr/>
          <p:nvPr/>
        </p:nvSpPr>
        <p:spPr>
          <a:xfrm>
            <a:off x="43891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10B981"/>
                </a:solidFill>
              </a:defRPr>
            </a:pPr>
            <a:r>
              <a:t>Competitive Advantage</a:t>
            </a:r>
          </a:p>
          <a:p>
            <a:pPr>
              <a:spcAft>
                <a:spcPts val="800"/>
              </a:spcAft>
              <a:defRPr sz="1050">
                <a:solidFill>
                  <a:srgbClr val="94A3B8"/>
                </a:solidFill>
              </a:defRPr>
            </a:pPr>
            <a:r>
              <a:t>Why Alphawise Wins</a:t>
            </a:r>
          </a:p>
          <a:p>
            <a:pPr>
              <a:spcAft>
                <a:spcPts val="500"/>
              </a:spcAft>
              <a:defRPr sz="1100">
                <a:solidFill>
                  <a:srgbClr val="F1F5F9"/>
                </a:solidFill>
              </a:defRPr>
            </a:pPr>
            <a:r>
              <a:t>• Vs. Bloomberg: 100x lower cost, instantaneous web onboarding, modern UX.</a:t>
            </a:r>
          </a:p>
          <a:p>
            <a:pPr>
              <a:spcAft>
                <a:spcPts val="500"/>
              </a:spcAft>
              <a:defRPr sz="1100">
                <a:solidFill>
                  <a:srgbClr val="F1F5F9"/>
                </a:solidFill>
              </a:defRPr>
            </a:pPr>
            <a:r>
              <a:t>• Vs. Robinhood / Retail Apps: True quantitative solvers &amp; spectral factor risk vs naive price charts.</a:t>
            </a:r>
          </a:p>
          <a:p>
            <a:pPr>
              <a:spcAft>
                <a:spcPts val="500"/>
              </a:spcAft>
              <a:defRPr sz="1100">
                <a:solidFill>
                  <a:srgbClr val="F1F5F9"/>
                </a:solidFill>
              </a:defRPr>
            </a:pPr>
            <a:r>
              <a:t>• Vs. Robo-Advisors: Full investor transparency, interactive What-If sandboxes, and custom constraints.</a:t>
            </a:r>
          </a:p>
        </p:txBody>
      </p:sp>
      <p:sp>
        <p:nvSpPr>
          <p:cNvPr id="7" name="Rounded Rectangle 6"/>
          <p:cNvSpPr/>
          <p:nvPr/>
        </p:nvSpPr>
        <p:spPr>
          <a:xfrm>
            <a:off x="8046720" y="1463040"/>
            <a:ext cx="3291840" cy="4572000"/>
          </a:xfrm>
          <a:prstGeom prst="roundRect">
            <a:avLst/>
          </a:prstGeom>
          <a:solidFill>
            <a:srgbClr val="131A2A"/>
          </a:solidFill>
          <a:ln w="12700">
            <a:solidFill>
              <a:srgbClr val="212C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182880"/>
          <a:lstStyle/>
          <a:p>
            <a:pPr algn="ctr">
              <a:defRPr sz="1500" b="1">
                <a:solidFill>
                  <a:srgbClr val="F59E0B"/>
                </a:solidFill>
              </a:defRPr>
            </a:pPr>
            <a:r>
              <a:t>Monetization Strategy</a:t>
            </a:r>
          </a:p>
          <a:p>
            <a:pPr>
              <a:spcAft>
                <a:spcPts val="800"/>
              </a:spcAft>
              <a:defRPr sz="1050">
                <a:solidFill>
                  <a:srgbClr val="94A3B8"/>
                </a:solidFill>
              </a:defRPr>
            </a:pPr>
            <a:r>
              <a:t>Scalable SaaS &amp; API Model</a:t>
            </a:r>
          </a:p>
          <a:p>
            <a:pPr>
              <a:spcAft>
                <a:spcPts val="500"/>
              </a:spcAft>
              <a:defRPr sz="1100">
                <a:solidFill>
                  <a:srgbClr val="F1F5F9"/>
                </a:solidFill>
              </a:defRPr>
            </a:pPr>
            <a:r>
              <a:t>• Free Tier: Core optimization &amp; terminal access for individual investors.</a:t>
            </a:r>
          </a:p>
          <a:p>
            <a:pPr>
              <a:spcAft>
                <a:spcPts val="500"/>
              </a:spcAft>
              <a:defRPr sz="1100">
                <a:solidFill>
                  <a:srgbClr val="F1F5F9"/>
                </a:solidFill>
              </a:defRPr>
            </a:pPr>
            <a:r>
              <a:t>• Advisor Pro ($49/mo): White-label tear sheets, unlimited AI CIO reports, multi-portfolio management.</a:t>
            </a:r>
          </a:p>
          <a:p>
            <a:pPr>
              <a:spcAft>
                <a:spcPts val="500"/>
              </a:spcAft>
              <a:defRPr sz="1100">
                <a:solidFill>
                  <a:srgbClr val="F1F5F9"/>
                </a:solidFill>
              </a:defRPr>
            </a:pPr>
            <a:r>
              <a:t>• Enterprise API: Quantitative optimization &amp; stress-testing endpoints for fintechs and brokerage apps.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32720" cy="4114800"/>
          </a:xfrm>
          <a:prstGeom prst="rect">
            <a:avLst/>
          </a:prstGeom>
          <a:noFill/>
        </p:spPr>
        <p:txBody>
          <a:bodyPr wrap="square">
            <a:spAutoFit/>
          </a:bodyPr>
          <a:lstStyle/>
          <a:p>
            <a:pPr>
              <a:spcAft>
                <a:spcPts val="1200"/>
              </a:spcAft>
              <a:defRPr sz="1300" b="1">
                <a:solidFill>
                  <a:srgbClr val="10B981"/>
                </a:solidFill>
              </a:defRPr>
            </a:pPr>
            <a:r>
              <a:t>🚀 DEMOCRATIZING INSTITUTIONAL FINANCIAL INTELLIGENCE</a:t>
            </a:r>
          </a:p>
          <a:p>
            <a:pPr>
              <a:spcAft>
                <a:spcPts val="1600"/>
              </a:spcAft>
              <a:defRPr sz="4400" b="1">
                <a:solidFill>
                  <a:srgbClr val="FFFFFF"/>
                </a:solidFill>
              </a:defRPr>
            </a:pPr>
            <a:r>
              <a:t>Smarter Portfolios. True Diversification.</a:t>
            </a:r>
          </a:p>
          <a:p>
            <a:pPr>
              <a:spcAft>
                <a:spcPts val="2800"/>
              </a:spcAft>
              <a:defRPr sz="1800">
                <a:solidFill>
                  <a:srgbClr val="94A3B8"/>
                </a:solidFill>
              </a:defRPr>
            </a:pPr>
            <a:r>
              <a:t>Alphawise replaces guesswork and estimation error with convex optimization, spectral factor analytics, and real-time AI intelligence.</a:t>
            </a:r>
            <a:br/>
            <a:r>
              <a:t>Institutional-grade portfolio management—now accessible to the world.</a:t>
            </a:r>
          </a:p>
          <a:p>
            <a:pPr>
              <a:defRPr sz="1400" b="1">
                <a:solidFill>
                  <a:srgbClr val="0EA5E9"/>
                </a:solidFill>
              </a:defRPr>
            </a:pPr>
            <a:r>
              <a:t>🌐 Live Application: https://alphawise-frontend.vercel.app</a:t>
            </a:r>
            <a:br/>
            <a:r>
              <a:t>💻 GitHub Repository: https://github.com/niranjangowdakm423-gif/Alphawise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